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منهجية شغل كاملة: كيف الـ AI بيشتغل عنا كفريق متوازي، كيف منضبطه، كيف منفحص شغله، ومين بيشغل الأتمتة.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الأساسية: مش مساعد واحد — فريق agents بنفس الوقت على نفس الريبو، كل واحد بنسخة معزولة (worktree)، ومايسترو بيوزع وبيجمع. خمس مهام بوقت أطول وحدة. وهاي ميكانيكا git — بتشتغل مع Claude ومع Cursor.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ما أي agent يشتغل، في تجهيز بينركب مرة وحدة وبيعيش جوا الريبو: ذاكرة المشروع (CLAUDE.md أو .cursor/rules)، الصلاحيات وملفات التعديل المسموحة، وحراس الـ production اللي بيمنعوا قبل التنفيذ. الحراس الكاملين (hooks) ميزة Claude — Cursor ما إله مقابل 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شي بيصير محلياً على جهاز المطور لحد الـ PR: كل مهمة بتاخد نسخة معزولة (worktree) على نفس الجهاز، الـ agents بيشتغلوا فيها بالتوازي، مجلدك الرئيسي ما بينلمس، وبالآخر دمج وPR واحد. وأي خراب — git بيرجعه بثواني.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الـ AI موصول بأدواتنا عبر MCP — موصل موحد بيحكيه Claude وCursor: من Sentry بيقرأ الـ crash وبيوصله للسطر المذنب وبيجهز الإصلاح؛ من Linear بيحول الوصف بالعامية لتذكرة وبيفرز الجديد؛ والـ Skills إجراءات الفريق مكتوبة مرة — والسياسة بتفرض حالها.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الفحص بثلاث مراحل بترتيب الكلفة: integration tests هي الرحلة مكتوبة ككود؛ GitHub Actions هو المشغل والبواب — بوابات كل PR والرحلات الليلية عالمنصتين بتقارير؛ وTest Lab أسبوعياً على أجهزة حقيقية بفيديو لكل جهاز. بلا أي منصة QA مدفوعة.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بـ 2026 الأداتين وصلوا شبه تكافؤ — Cursor ضاف hooks وCLI وتوازي أصلي. قرارنا مش 'مين بيقدر' — الاثنين بيقدروا. القرار بالاقتصاديات (~5.5x توكنز أقل لنفس المهمة بمقارنات مستقلة + فوترة API شفافة لكل أنبوب مقابل credits)، بنضج الحراس (تبعت Claude مجربة وعنا شغالة)، بالتكامل الرسمي مع GitHub، وبإنه كل الـ playbook تبعنا مبني ومجرب على Claude. وCursor بيظل ملك المحرر — تكامل مش منافسة.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يوم الموظف: بياخد تذكرة مفروزة من Linear، بيفتح Cursor أو Claude — والقوانين بتنشحن لحالها من الريبو، بيوصف الشغل وبيجاوب أسئلة الـ AI، الـ agents بينفذوا بنسخ معزولة، PR واحد بيطلع وبيمرق عالبوابات، وهو بيراجع وبيدمج — والتذكرة بتسكر حالها.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التوزيعة: أجهزة المطورين للشغل التفاعلي، GitHub Actions للبوابات والفحوصات المجدولة، وسيرفر AWS صغير دايم الصحو للـ webhooks والجدولة والأنابيب بلا واجهة وتوصيل Slack. سيرفر صغير بيكفي — الشغل الثقيل عالـ API مش عالسيرفر.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اللي شفتوه مش نظري — بفرجيكم ياه شغال هلق: PR بيمرق عالبوابات قدامكم، وwebhook بيصحّي الأنبوب. بعدها 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37744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AI-First Development</a:t>
            </a:r>
            <a:endParaRPr lang="en-US" sz="4400" dirty="0"/>
          </a:p>
        </p:txBody>
      </p:sp>
      <p:sp>
        <p:nvSpPr>
          <p:cNvPr id="3" name="Text 1"/>
          <p:cNvSpPr/>
          <p:nvPr/>
        </p:nvSpPr>
        <p:spPr>
          <a:xfrm>
            <a:off x="822960" y="3383280"/>
            <a:ext cx="105156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Multi-agent development, automated QA, and the pipeline that runs it — on Claude and Cursor.</a:t>
            </a:r>
            <a:endParaRPr lang="en-US" sz="1800" dirty="0"/>
          </a:p>
        </p:txBody>
      </p:sp>
      <p:sp>
        <p:nvSpPr>
          <p:cNvPr id="4" name="Text 2"/>
          <p:cNvSpPr/>
          <p:nvPr/>
        </p:nvSpPr>
        <p:spPr>
          <a:xfrm>
            <a:off x="822960" y="6035040"/>
            <a:ext cx="10515600" cy="365760"/>
          </a:xfrm>
          <a:prstGeom prst="rect">
            <a:avLst/>
          </a:prstGeom>
          <a:noFill/>
          <a:ln/>
        </p:spPr>
        <p:txBody>
          <a:bodyPr wrap="square" lIns="0" tIns="0" rIns="0" bIns="0" rtlCol="0" anchor="ctr"/>
          <a:lstStyle/>
          <a:p>
            <a:pPr indent="0" marL="0">
              <a:buNone/>
            </a:pPr>
            <a:r>
              <a:rPr lang="en-US" sz="1300" dirty="0">
                <a:solidFill>
                  <a:srgbClr val="8FA3D9"/>
                </a:solidFill>
                <a:latin typeface="Calibri" pitchFamily="34" charset="0"/>
                <a:ea typeface="Calibri" pitchFamily="34" charset="-122"/>
                <a:cs typeface="Calibri" pitchFamily="34" charset="-120"/>
              </a:rPr>
              <a:t>ArabGT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1 . THE CORE</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Multi-Agent Development</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943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Not one assistant answering one developer — several AI agents working the same repository at the same time, each in its own isolated copy, coordinated by one orchestrator.</a:t>
            </a:r>
            <a:endParaRPr lang="en-US" sz="1400" dirty="0"/>
          </a:p>
        </p:txBody>
      </p:sp>
      <p:sp>
        <p:nvSpPr>
          <p:cNvPr id="6" name="Text 4"/>
          <p:cNvSpPr/>
          <p:nvPr/>
        </p:nvSpPr>
        <p:spPr>
          <a:xfrm>
            <a:off x="640080" y="2286000"/>
            <a:ext cx="10908792"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Calibri" pitchFamily="34" charset="0"/>
                <a:ea typeface="Calibri" pitchFamily="34" charset="-122"/>
                <a:cs typeface="Calibri" pitchFamily="34" charset="-120"/>
              </a:rPr>
              <a:t>5 tasks  →  the time of the longest one</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3200400"/>
          <a:ext cx="10908792" cy="914400"/>
        </p:xfrm>
        <a:graphic>
          <a:graphicData uri="http://schemas.openxmlformats.org/drawingml/2006/table">
            <a:tbl>
              <a:tblPr/>
              <a:tblGrid>
                <a:gridCol w="5852160"/>
                <a:gridCol w="5056632"/>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530352">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One isolated working copy per agent (git worktree)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Agents never touch each other's files</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30352">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Tasks split by files</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Disjoint files = zero merge conflicts by design</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530352">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One orchestrator dispatches, waits, merges, cleans</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You state the tasks once — coordination is automated</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8" name="Text 5"/>
          <p:cNvSpPr/>
          <p:nvPr/>
        </p:nvSpPr>
        <p:spPr>
          <a:xfrm>
            <a:off x="640080" y="5303520"/>
            <a:ext cx="10908792"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Works with Claude Code sessions and with Cursor background agents — same git mechanics.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2 . PREREQUISITES</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Before Any Agent Runs — The Setup</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943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Agents are only as safe and consistent as the ground rules installed before them. Three pieces, installed once, live in the repository itself:</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08792" cy="914400"/>
        </p:xfrm>
        <a:graphic>
          <a:graphicData uri="http://schemas.openxmlformats.org/drawingml/2006/table">
            <a:tbl>
              <a:tblPr/>
              <a:tblGrid>
                <a:gridCol w="2286000"/>
                <a:gridCol w="4572000"/>
                <a:gridCol w="2148840"/>
                <a:gridCol w="1901952"/>
              </a:tblGrid>
              <a:tr h="7772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Piece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Claude Code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Cursor</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77724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Project memory</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Teaches the AI the project, conventions, red lines — from second one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CLAUDE.md</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.cursor/rules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Permissions &amp; file scopes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What the AI may run and which files it may edit — allow / deny lists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settings.json permissions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Agent auto-run settings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77724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Production guards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Block forbidden operations BEFORE they execute (prod DB, company workspaces)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Hooks — hard enforcement</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 no full equivalent</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640080" y="5257800"/>
            <a:ext cx="10908792"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rules travel with the repo: every developer — and every agent — inherits them on clone.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3 . LOCAL FLOW</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How Agents Work On Your Machine</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4864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Everything happens locally on the developer's machine until the pull request. No agent edits your live working copy:</a:t>
            </a:r>
            <a:endParaRPr lang="en-US" sz="1400" dirty="0"/>
          </a:p>
        </p:txBody>
      </p:sp>
      <p:sp>
        <p:nvSpPr>
          <p:cNvPr id="6" name="Shape 4"/>
          <p:cNvSpPr/>
          <p:nvPr/>
        </p:nvSpPr>
        <p:spPr>
          <a:xfrm>
            <a:off x="640080" y="2249424"/>
            <a:ext cx="384048" cy="384048"/>
          </a:xfrm>
          <a:prstGeom prst="ellipse">
            <a:avLst/>
          </a:prstGeom>
          <a:solidFill>
            <a:srgbClr val="1E2761"/>
          </a:solidFill>
          <a:ln/>
        </p:spPr>
      </p:sp>
      <p:sp>
        <p:nvSpPr>
          <p:cNvPr id="7" name="Text 5"/>
          <p:cNvSpPr/>
          <p:nvPr/>
        </p:nvSpPr>
        <p:spPr>
          <a:xfrm>
            <a:off x="640080" y="22494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34440" y="2194560"/>
            <a:ext cx="10314432" cy="548640"/>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Each task gets an isolated local copy</a:t>
            </a:r>
            <a:pPr indent="0" marL="0">
              <a:buNone/>
            </a:pPr>
            <a:r>
              <a:rPr lang="en-US" sz="1400" dirty="0">
                <a:solidFill>
                  <a:srgbClr val="595959"/>
                </a:solidFill>
                <a:latin typeface="Calibri" pitchFamily="34" charset="0"/>
                <a:ea typeface="Calibri" pitchFamily="34" charset="-122"/>
                <a:cs typeface="Calibri" pitchFamily="34" charset="-120"/>
              </a:rPr>
              <a:t>   —   git worktree — a second working copy of the same repo, own branch, same disk</a:t>
            </a:r>
            <a:endParaRPr lang="en-US" sz="1400" dirty="0"/>
          </a:p>
        </p:txBody>
      </p:sp>
      <p:sp>
        <p:nvSpPr>
          <p:cNvPr id="9" name="Shape 7"/>
          <p:cNvSpPr/>
          <p:nvPr/>
        </p:nvSpPr>
        <p:spPr>
          <a:xfrm>
            <a:off x="640080" y="2907792"/>
            <a:ext cx="384048" cy="384048"/>
          </a:xfrm>
          <a:prstGeom prst="ellipse">
            <a:avLst/>
          </a:prstGeom>
          <a:solidFill>
            <a:srgbClr val="1E2761"/>
          </a:solidFill>
          <a:ln/>
        </p:spPr>
      </p:sp>
      <p:sp>
        <p:nvSpPr>
          <p:cNvPr id="10" name="Text 8"/>
          <p:cNvSpPr/>
          <p:nvPr/>
        </p:nvSpPr>
        <p:spPr>
          <a:xfrm>
            <a:off x="640080" y="2907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34440" y="2852928"/>
            <a:ext cx="10314432" cy="548640"/>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Agents work in parallel inside their copies</a:t>
            </a:r>
            <a:pPr indent="0" marL="0">
              <a:buNone/>
            </a:pPr>
            <a:r>
              <a:rPr lang="en-US" sz="1400" dirty="0">
                <a:solidFill>
                  <a:srgbClr val="595959"/>
                </a:solidFill>
                <a:latin typeface="Calibri" pitchFamily="34" charset="0"/>
                <a:ea typeface="Calibri" pitchFamily="34" charset="-122"/>
                <a:cs typeface="Calibri" pitchFamily="34" charset="-120"/>
              </a:rPr>
              <a:t>   —   your main folder and open editor stay untouched</a:t>
            </a:r>
            <a:endParaRPr lang="en-US" sz="1400" dirty="0"/>
          </a:p>
        </p:txBody>
      </p:sp>
      <p:sp>
        <p:nvSpPr>
          <p:cNvPr id="12" name="Shape 10"/>
          <p:cNvSpPr/>
          <p:nvPr/>
        </p:nvSpPr>
        <p:spPr>
          <a:xfrm>
            <a:off x="640080" y="3566160"/>
            <a:ext cx="384048" cy="384048"/>
          </a:xfrm>
          <a:prstGeom prst="ellipse">
            <a:avLst/>
          </a:prstGeom>
          <a:solidFill>
            <a:srgbClr val="1E2761"/>
          </a:solidFill>
          <a:ln/>
        </p:spPr>
      </p:sp>
      <p:sp>
        <p:nvSpPr>
          <p:cNvPr id="13" name="Text 11"/>
          <p:cNvSpPr/>
          <p:nvPr/>
        </p:nvSpPr>
        <p:spPr>
          <a:xfrm>
            <a:off x="64008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34440" y="3511296"/>
            <a:ext cx="10314432" cy="548640"/>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Each agent commits its own work</a:t>
            </a:r>
            <a:pPr indent="0" marL="0">
              <a:buNone/>
            </a:pPr>
            <a:r>
              <a:rPr lang="en-US" sz="1400" dirty="0">
                <a:solidFill>
                  <a:srgbClr val="595959"/>
                </a:solidFill>
                <a:latin typeface="Calibri" pitchFamily="34" charset="0"/>
                <a:ea typeface="Calibri" pitchFamily="34" charset="-122"/>
                <a:cs typeface="Calibri" pitchFamily="34" charset="-120"/>
              </a:rPr>
              <a:t>   —   one commit per task, clear message</a:t>
            </a:r>
            <a:endParaRPr lang="en-US" sz="1400" dirty="0"/>
          </a:p>
        </p:txBody>
      </p:sp>
      <p:sp>
        <p:nvSpPr>
          <p:cNvPr id="15" name="Shape 13"/>
          <p:cNvSpPr/>
          <p:nvPr/>
        </p:nvSpPr>
        <p:spPr>
          <a:xfrm>
            <a:off x="640080" y="4224528"/>
            <a:ext cx="384048" cy="384048"/>
          </a:xfrm>
          <a:prstGeom prst="ellipse">
            <a:avLst/>
          </a:prstGeom>
          <a:solidFill>
            <a:srgbClr val="1E2761"/>
          </a:solidFill>
          <a:ln/>
        </p:spPr>
      </p:sp>
      <p:sp>
        <p:nvSpPr>
          <p:cNvPr id="16" name="Text 14"/>
          <p:cNvSpPr/>
          <p:nvPr/>
        </p:nvSpPr>
        <p:spPr>
          <a:xfrm>
            <a:off x="640080" y="4224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34440" y="4169664"/>
            <a:ext cx="10314432" cy="548640"/>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The orchestrator merges the branches</a:t>
            </a:r>
            <a:pPr indent="0" marL="0">
              <a:buNone/>
            </a:pPr>
            <a:r>
              <a:rPr lang="en-US" sz="1400" dirty="0">
                <a:solidFill>
                  <a:srgbClr val="595959"/>
                </a:solidFill>
                <a:latin typeface="Calibri" pitchFamily="34" charset="0"/>
                <a:ea typeface="Calibri" pitchFamily="34" charset="-122"/>
                <a:cs typeface="Calibri" pitchFamily="34" charset="-120"/>
              </a:rPr>
              <a:t>   —   disjoint files merge clean; copies are removed</a:t>
            </a:r>
            <a:endParaRPr lang="en-US" sz="1400" dirty="0"/>
          </a:p>
        </p:txBody>
      </p:sp>
      <p:sp>
        <p:nvSpPr>
          <p:cNvPr id="18" name="Shape 16"/>
          <p:cNvSpPr/>
          <p:nvPr/>
        </p:nvSpPr>
        <p:spPr>
          <a:xfrm>
            <a:off x="640080" y="4882896"/>
            <a:ext cx="384048" cy="384048"/>
          </a:xfrm>
          <a:prstGeom prst="ellipse">
            <a:avLst/>
          </a:prstGeom>
          <a:solidFill>
            <a:srgbClr val="1E2761"/>
          </a:solidFill>
          <a:ln/>
        </p:spPr>
      </p:sp>
      <p:sp>
        <p:nvSpPr>
          <p:cNvPr id="19" name="Text 17"/>
          <p:cNvSpPr/>
          <p:nvPr/>
        </p:nvSpPr>
        <p:spPr>
          <a:xfrm>
            <a:off x="640080" y="4882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34440" y="4828032"/>
            <a:ext cx="10314432" cy="548640"/>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One pull request goes up for review</a:t>
            </a:r>
            <a:pPr indent="0" marL="0">
              <a:buNone/>
            </a:pPr>
            <a:r>
              <a:rPr lang="en-US" sz="1400" dirty="0">
                <a:solidFill>
                  <a:srgbClr val="595959"/>
                </a:solidFill>
                <a:latin typeface="Calibri" pitchFamily="34" charset="0"/>
                <a:ea typeface="Calibri" pitchFamily="34" charset="-122"/>
                <a:cs typeface="Calibri" pitchFamily="34" charset="-120"/>
              </a:rPr>
              <a:t>   —   the only thing that ever leaves your machine</a:t>
            </a:r>
            <a:endParaRPr lang="en-US" sz="1400" dirty="0"/>
          </a:p>
        </p:txBody>
      </p:sp>
      <p:sp>
        <p:nvSpPr>
          <p:cNvPr id="21" name="Text 19"/>
          <p:cNvSpPr/>
          <p:nvPr/>
        </p:nvSpPr>
        <p:spPr>
          <a:xfrm>
            <a:off x="640080" y="5577840"/>
            <a:ext cx="10908792"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Wrecked something? Everything committed in git is recoverable in seconds — checkpoints before bold operations.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4 . INTEGRATIONS</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Signals &amp; Skills — Sentry, Linear, Procedures</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4864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The AI is connected to the tools we already use, through one standard connector (MCP) that both Claude and Cursor speak: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743200"/>
                <a:gridCol w="8165592"/>
              </a:tblGrid>
              <a:tr h="9144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AI does with it</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91440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Sentry — crashes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Reads the issue and stack trace, finds the guilty line locally, proposes or applies the fix, prepares the PR, resolves the issue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91440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Linear — tickets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Colloquial description → formatted ticket, created automatically. New tickets triaged: priority, labels, duplicates linked. Ticket → questions → spec → implementation → the ticket updates itself</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91440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Skills — team procedures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Procedures written once, loaded only when needed: /linear-ticket (problem-only policy baked in), /parallel-tasks (never two agents on one file). Policies enforce themselves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640080" y="5394960"/>
            <a:ext cx="10908792"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Team knowledge stops living in people's heads — it lives in versioned files that every agent obeys.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5 . QA</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Testing — Three Stages, All Owned by Us</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4864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AI writes the tests once from a plain-language description; free deterministic tools run them forever. Three stages, ordered by cost: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103120"/>
                <a:gridCol w="5486400"/>
                <a:gridCol w="2011680"/>
                <a:gridCol w="1307592"/>
              </a:tblGrid>
              <a:tr h="8686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is</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86868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Integration tests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The user journey written as code: open → browse → reserve → confirm. Runs on simulator/emulator</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On demand + nightly</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Free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86868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GitHub Actions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The scheduler and gatekeeper: contract checks + AI review on every PR; nightly journeys on iOS AND Android with pass/fail reports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Every PR + nightly 05:00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Free (public) / metered (private)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86868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Firebase Test Lab</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The same tests on real physical devices — Pixel, Samsung — with a video per device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Weekly</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Free daily quota</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640080" y="5394960"/>
            <a:ext cx="10908792"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No third-party QA platform. The framework ships with Flutter; the scheduler is GitHub; the device farm has a free tier.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6 . TOOLING</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Claude Code ↔ Cursor — One Map</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4864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Same concepts, different names — and two real gaps that decide which tool drives the automation: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08792" cy="914400"/>
        </p:xfrm>
        <a:graphic>
          <a:graphicData uri="http://schemas.openxmlformats.org/drawingml/2006/table">
            <a:tbl>
              <a:tblPr/>
              <a:tblGrid>
                <a:gridCol w="3108960"/>
                <a:gridCol w="4023360"/>
                <a:gridCol w="3776472"/>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Concept</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Claude Code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Cursor</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Project memory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CLAUDE.md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.cursor/rules — parity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Guards (hooks)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GA, battle-tested — proven in our setup</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Yes since late 2025 — months old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Parallel agents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Native + orchestrator procedures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Native since 2.0 — worktrees, /multitask</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Skills / procedures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SKILL.md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SKILL.md too — parity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Headless / CI</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claude -p + first-party GitHub action</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cursor-agent -p + community action</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PR review</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Official action — prompt fully ours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Bugbot (hosted) — less control</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Automation economics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~5.5x fewer tokens per task; per-pipeline API billing, batch −50%</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Credit-based — heavy models drain credits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In-editor daily work</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 (not its specialty)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212121"/>
                          </a:solidFill>
                          <a:latin typeface="Calibri" pitchFamily="34" charset="0"/>
                          <a:ea typeface="Calibri" pitchFamily="34" charset="-122"/>
                          <a:cs typeface="Calibri" pitchFamily="34" charset="-120"/>
                        </a:rPr>
                        <a:t>Tab completion, inline edits — its strength</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7" name="Text 4"/>
          <p:cNvSpPr/>
          <p:nvPr/>
        </p:nvSpPr>
        <p:spPr>
          <a:xfrm>
            <a:off x="640080" y="5806440"/>
            <a:ext cx="10908792"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Near feature parity in 2026 — the split is decided by economics, maturity, and our ready-built playbook. Cursor keeps the editor.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7 . WORKFLOW</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 Developer's Day — How Work Actually Flows</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Shape 3"/>
          <p:cNvSpPr/>
          <p:nvPr/>
        </p:nvSpPr>
        <p:spPr>
          <a:xfrm>
            <a:off x="640080" y="1655064"/>
            <a:ext cx="384048" cy="384048"/>
          </a:xfrm>
          <a:prstGeom prst="ellipse">
            <a:avLst/>
          </a:prstGeom>
          <a:solidFill>
            <a:srgbClr val="1E2761"/>
          </a:solidFill>
          <a:ln/>
        </p:spPr>
      </p:sp>
      <p:sp>
        <p:nvSpPr>
          <p:cNvPr id="6" name="Text 4"/>
          <p:cNvSpPr/>
          <p:nvPr/>
        </p:nvSpPr>
        <p:spPr>
          <a:xfrm>
            <a:off x="640080"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600200"/>
            <a:ext cx="10314432" cy="566928"/>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Pick a ticket from Linear</a:t>
            </a:r>
            <a:pPr indent="0" marL="0">
              <a:buNone/>
            </a:pPr>
            <a:r>
              <a:rPr lang="en-US" sz="1400" dirty="0">
                <a:solidFill>
                  <a:srgbClr val="595959"/>
                </a:solidFill>
                <a:latin typeface="Calibri" pitchFamily="34" charset="0"/>
                <a:ea typeface="Calibri" pitchFamily="34" charset="-122"/>
                <a:cs typeface="Calibri" pitchFamily="34" charset="-120"/>
              </a:rPr>
              <a:t>   —   already triaged: priority, labels, duplicates linked</a:t>
            </a:r>
            <a:endParaRPr lang="en-US" sz="1400" dirty="0"/>
          </a:p>
        </p:txBody>
      </p:sp>
      <p:sp>
        <p:nvSpPr>
          <p:cNvPr id="8" name="Shape 6"/>
          <p:cNvSpPr/>
          <p:nvPr/>
        </p:nvSpPr>
        <p:spPr>
          <a:xfrm>
            <a:off x="640080" y="2331720"/>
            <a:ext cx="384048" cy="384048"/>
          </a:xfrm>
          <a:prstGeom prst="ellipse">
            <a:avLst/>
          </a:prstGeom>
          <a:solidFill>
            <a:srgbClr val="1E2761"/>
          </a:solidFill>
          <a:ln/>
        </p:spPr>
      </p:sp>
      <p:sp>
        <p:nvSpPr>
          <p:cNvPr id="9" name="Text 7"/>
          <p:cNvSpPr/>
          <p:nvPr/>
        </p:nvSpPr>
        <p:spPr>
          <a:xfrm>
            <a:off x="64008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34440" y="2276856"/>
            <a:ext cx="10314432" cy="566928"/>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Open Cursor or a Claude session</a:t>
            </a:r>
            <a:pPr indent="0" marL="0">
              <a:buNone/>
            </a:pPr>
            <a:r>
              <a:rPr lang="en-US" sz="1400" dirty="0">
                <a:solidFill>
                  <a:srgbClr val="595959"/>
                </a:solidFill>
                <a:latin typeface="Calibri" pitchFamily="34" charset="0"/>
                <a:ea typeface="Calibri" pitchFamily="34" charset="-122"/>
                <a:cs typeface="Calibri" pitchFamily="34" charset="-120"/>
              </a:rPr>
              <a:t>   —   the repo's rules, scopes, and guards load automatically</a:t>
            </a:r>
            <a:endParaRPr lang="en-US" sz="1400" dirty="0"/>
          </a:p>
        </p:txBody>
      </p:sp>
      <p:sp>
        <p:nvSpPr>
          <p:cNvPr id="11" name="Shape 9"/>
          <p:cNvSpPr/>
          <p:nvPr/>
        </p:nvSpPr>
        <p:spPr>
          <a:xfrm>
            <a:off x="640080" y="3008376"/>
            <a:ext cx="384048" cy="384048"/>
          </a:xfrm>
          <a:prstGeom prst="ellipse">
            <a:avLst/>
          </a:prstGeom>
          <a:solidFill>
            <a:srgbClr val="1E2761"/>
          </a:solidFill>
          <a:ln/>
        </p:spPr>
      </p:sp>
      <p:sp>
        <p:nvSpPr>
          <p:cNvPr id="12" name="Text 10"/>
          <p:cNvSpPr/>
          <p:nvPr/>
        </p:nvSpPr>
        <p:spPr>
          <a:xfrm>
            <a:off x="640080" y="3008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234440" y="2953512"/>
            <a:ext cx="10314432" cy="566928"/>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Describe the work — answer the AI's questions</a:t>
            </a:r>
            <a:pPr indent="0" marL="0">
              <a:buNone/>
            </a:pPr>
            <a:r>
              <a:rPr lang="en-US" sz="1400" dirty="0">
                <a:solidFill>
                  <a:srgbClr val="595959"/>
                </a:solidFill>
                <a:latin typeface="Calibri" pitchFamily="34" charset="0"/>
                <a:ea typeface="Calibri" pitchFamily="34" charset="-122"/>
                <a:cs typeface="Calibri" pitchFamily="34" charset="-120"/>
              </a:rPr>
              <a:t>   —   unclear points come back as questions; your answers become the spec</a:t>
            </a:r>
            <a:endParaRPr lang="en-US" sz="1400" dirty="0"/>
          </a:p>
        </p:txBody>
      </p:sp>
      <p:sp>
        <p:nvSpPr>
          <p:cNvPr id="14" name="Shape 12"/>
          <p:cNvSpPr/>
          <p:nvPr/>
        </p:nvSpPr>
        <p:spPr>
          <a:xfrm>
            <a:off x="640080" y="3685032"/>
            <a:ext cx="384048" cy="384048"/>
          </a:xfrm>
          <a:prstGeom prst="ellipse">
            <a:avLst/>
          </a:prstGeom>
          <a:solidFill>
            <a:srgbClr val="1E2761"/>
          </a:solidFill>
          <a:ln/>
        </p:spPr>
      </p:sp>
      <p:sp>
        <p:nvSpPr>
          <p:cNvPr id="15" name="Text 13"/>
          <p:cNvSpPr/>
          <p:nvPr/>
        </p:nvSpPr>
        <p:spPr>
          <a:xfrm>
            <a:off x="640080" y="3685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234440" y="3630168"/>
            <a:ext cx="10314432" cy="566928"/>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Agents implement in isolated local copies</a:t>
            </a:r>
            <a:pPr indent="0" marL="0">
              <a:buNone/>
            </a:pPr>
            <a:r>
              <a:rPr lang="en-US" sz="1400" dirty="0">
                <a:solidFill>
                  <a:srgbClr val="595959"/>
                </a:solidFill>
                <a:latin typeface="Calibri" pitchFamily="34" charset="0"/>
                <a:ea typeface="Calibri" pitchFamily="34" charset="-122"/>
                <a:cs typeface="Calibri" pitchFamily="34" charset="-120"/>
              </a:rPr>
              <a:t>   —   in parallel when tasks allow; your editor stays untouched</a:t>
            </a:r>
            <a:endParaRPr lang="en-US" sz="1400" dirty="0"/>
          </a:p>
        </p:txBody>
      </p:sp>
      <p:sp>
        <p:nvSpPr>
          <p:cNvPr id="17" name="Shape 15"/>
          <p:cNvSpPr/>
          <p:nvPr/>
        </p:nvSpPr>
        <p:spPr>
          <a:xfrm>
            <a:off x="640080" y="4361688"/>
            <a:ext cx="384048" cy="384048"/>
          </a:xfrm>
          <a:prstGeom prst="ellipse">
            <a:avLst/>
          </a:prstGeom>
          <a:solidFill>
            <a:srgbClr val="1E2761"/>
          </a:solidFill>
          <a:ln/>
        </p:spPr>
      </p:sp>
      <p:sp>
        <p:nvSpPr>
          <p:cNvPr id="18" name="Text 16"/>
          <p:cNvSpPr/>
          <p:nvPr/>
        </p:nvSpPr>
        <p:spPr>
          <a:xfrm>
            <a:off x="640080" y="4361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1234440" y="4306824"/>
            <a:ext cx="10314432" cy="566928"/>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One pull request goes up</a:t>
            </a:r>
            <a:pPr indent="0" marL="0">
              <a:buNone/>
            </a:pPr>
            <a:r>
              <a:rPr lang="en-US" sz="1400" dirty="0">
                <a:solidFill>
                  <a:srgbClr val="595959"/>
                </a:solidFill>
                <a:latin typeface="Calibri" pitchFamily="34" charset="0"/>
                <a:ea typeface="Calibri" pitchFamily="34" charset="-122"/>
                <a:cs typeface="Calibri" pitchFamily="34" charset="-120"/>
              </a:rPr>
              <a:t>   —   contract check + locked merge + AI review run automatically</a:t>
            </a:r>
            <a:endParaRPr lang="en-US" sz="1400" dirty="0"/>
          </a:p>
        </p:txBody>
      </p:sp>
      <p:sp>
        <p:nvSpPr>
          <p:cNvPr id="20" name="Shape 18"/>
          <p:cNvSpPr/>
          <p:nvPr/>
        </p:nvSpPr>
        <p:spPr>
          <a:xfrm>
            <a:off x="640080" y="5038344"/>
            <a:ext cx="384048" cy="384048"/>
          </a:xfrm>
          <a:prstGeom prst="ellipse">
            <a:avLst/>
          </a:prstGeom>
          <a:solidFill>
            <a:srgbClr val="1E2761"/>
          </a:solidFill>
          <a:ln/>
        </p:spPr>
      </p:sp>
      <p:sp>
        <p:nvSpPr>
          <p:cNvPr id="21" name="Text 19"/>
          <p:cNvSpPr/>
          <p:nvPr/>
        </p:nvSpPr>
        <p:spPr>
          <a:xfrm>
            <a:off x="640080" y="5038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p:nvPr/>
        </p:nvSpPr>
        <p:spPr>
          <a:xfrm>
            <a:off x="1234440" y="4983480"/>
            <a:ext cx="10314432" cy="566928"/>
          </a:xfrm>
          <a:prstGeom prst="rect">
            <a:avLst/>
          </a:prstGeom>
          <a:noFill/>
          <a:ln/>
        </p:spPr>
        <p:txBody>
          <a:bodyPr wrap="square" lIns="0" tIns="0" rIns="0" bIns="0" rtlCol="0" anchor="ctr"/>
          <a:lstStyle/>
          <a:p>
            <a:pPr indent="0" marL="0">
              <a:buNone/>
            </a:pPr>
            <a:r>
              <a:rPr lang="en-US" sz="1400" b="1" dirty="0">
                <a:solidFill>
                  <a:srgbClr val="212121"/>
                </a:solidFill>
                <a:latin typeface="Calibri" pitchFamily="34" charset="0"/>
                <a:ea typeface="Calibri" pitchFamily="34" charset="-122"/>
                <a:cs typeface="Calibri" pitchFamily="34" charset="-120"/>
              </a:rPr>
              <a:t>Human reviews and merges</a:t>
            </a:r>
            <a:pPr indent="0" marL="0">
              <a:buNone/>
            </a:pPr>
            <a:r>
              <a:rPr lang="en-US" sz="1400" dirty="0">
                <a:solidFill>
                  <a:srgbClr val="595959"/>
                </a:solidFill>
                <a:latin typeface="Calibri" pitchFamily="34" charset="0"/>
                <a:ea typeface="Calibri" pitchFamily="34" charset="-122"/>
                <a:cs typeface="Calibri" pitchFamily="34" charset="-120"/>
              </a:rPr>
              <a:t>   —   the ticket updates itself to done</a:t>
            </a:r>
            <a:endParaRPr lang="en-US" sz="1400" dirty="0"/>
          </a:p>
        </p:txBody>
      </p:sp>
      <p:sp>
        <p:nvSpPr>
          <p:cNvPr id="23" name="Text 21"/>
          <p:cNvSpPr/>
          <p:nvPr/>
        </p:nvSpPr>
        <p:spPr>
          <a:xfrm>
            <a:off x="640080" y="5806440"/>
            <a:ext cx="10908792"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developer's craft moves up: from typing everything to deciding and reviewing.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100" spc="200" kern="0" dirty="0">
                <a:solidFill>
                  <a:srgbClr val="595959"/>
                </a:solidFill>
                <a:latin typeface="Calibri" pitchFamily="34" charset="0"/>
                <a:ea typeface="Calibri" pitchFamily="34" charset="-122"/>
                <a:cs typeface="Calibri" pitchFamily="34" charset="-120"/>
              </a:rPr>
              <a:t>8 . INFRASTRUCTURE</a:t>
            </a:r>
            <a:endParaRPr lang="en-US" sz="1100" dirty="0"/>
          </a:p>
        </p:txBody>
      </p:sp>
      <p:sp>
        <p:nvSpPr>
          <p:cNvPr id="3" name="Text 1"/>
          <p:cNvSpPr/>
          <p:nvPr/>
        </p:nvSpPr>
        <p:spPr>
          <a:xfrm>
            <a:off x="640080" y="658368"/>
            <a:ext cx="10908792" cy="64008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Who Runs the Automation — The AWS Server</a:t>
            </a:r>
            <a:endParaRPr lang="en-US" sz="3000" dirty="0"/>
          </a:p>
        </p:txBody>
      </p:sp>
      <p:sp>
        <p:nvSpPr>
          <p:cNvPr id="4" name="Text 2"/>
          <p:cNvSpPr/>
          <p:nvPr/>
        </p:nvSpPr>
        <p:spPr>
          <a:xfrm>
            <a:off x="640080" y="6473952"/>
            <a:ext cx="5486400" cy="27432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ArabGT — AI-First Development</a:t>
            </a:r>
            <a:endParaRPr lang="en-US" sz="900" dirty="0"/>
          </a:p>
        </p:txBody>
      </p:sp>
      <p:sp>
        <p:nvSpPr>
          <p:cNvPr id="5" name="Text 3"/>
          <p:cNvSpPr/>
          <p:nvPr/>
        </p:nvSpPr>
        <p:spPr>
          <a:xfrm>
            <a:off x="640080" y="1463040"/>
            <a:ext cx="10908792" cy="54864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Interactive work lives on developer machines. Everything that must run without a human lives on a small always-on server:</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08792" cy="914400"/>
        </p:xfrm>
        <a:graphic>
          <a:graphicData uri="http://schemas.openxmlformats.org/drawingml/2006/table">
            <a:tbl>
              <a:tblPr/>
              <a:tblGrid>
                <a:gridCol w="2377440"/>
                <a:gridCol w="5669280"/>
                <a:gridCol w="2862072"/>
              </a:tblGrid>
              <a:tr h="9144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runs there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there</a:t>
                      </a:r>
                      <a:endParaRPr lang="en-US" sz="14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91440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Developer machines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Interactive sessions, local parallel agents, day-to-day coding</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Fast feedback; work stays local until the PR</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91440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GitHub Actions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PR gates, nightly journeys (iOS + Android), weekly full suite, Test Lab dispatch</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Free runners, tied to the repo, reports on every run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914400">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AWS server (small EC2)</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Webhook listeners (Sentry, Linear, GitHub) · schedulers (morning report 07:00, hourly triage) · headless AI pipelines · Slack delivery</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12121"/>
                          </a:solidFill>
                          <a:latin typeface="Calibri" pitchFamily="34" charset="0"/>
                          <a:ea typeface="Calibri" pitchFamily="34" charset="-122"/>
                          <a:cs typeface="Calibri" pitchFamily="34" charset="-120"/>
                        </a:rPr>
                        <a:t>Always awake — laptops sleep; this box never does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640080" y="5394960"/>
            <a:ext cx="10908792"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 small instance is enough — the heavy AI lifting happens on the API side; the server just listens, schedules, and dispatches.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74320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Everything in this deck runs today.</a:t>
            </a:r>
            <a:endParaRPr lang="en-US" sz="3600" dirty="0"/>
          </a:p>
        </p:txBody>
      </p:sp>
      <p:sp>
        <p:nvSpPr>
          <p:cNvPr id="3" name="Text 1"/>
          <p:cNvSpPr/>
          <p:nvPr/>
        </p:nvSpPr>
        <p:spPr>
          <a:xfrm>
            <a:off x="822960" y="3657600"/>
            <a:ext cx="105156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Live demo next — then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2026-08-16T12:29:58Z</dcterms:created>
  <dcterms:modified xsi:type="dcterms:W3CDTF">2026-08-16T12:29:58Z</dcterms:modified>
</cp:coreProperties>
</file>